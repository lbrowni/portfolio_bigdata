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387FF-7342-9BCA-C7D7-EDD981985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8CC68E-17FE-7DF4-4740-1202F056A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123799-F016-FA54-1DB3-BE45B823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0D0CF8-6914-52E5-2E6C-BB316F5E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8199D3-9B2D-7650-52FC-F5AD3AE0F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800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136487-9B4B-D79F-AF71-95BC6071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31387D-5471-2C73-CC11-0209335F3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D3F6EF-691E-BB7F-CCFF-2948825D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CF166A-D253-51D7-7D7E-EF618E5E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5CCDEF-DC96-6C00-6A61-BA41EA71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9749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AA3C4-C28A-A466-4113-9EAFBA9C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3926F2-C452-BF13-2EB9-E3CF3895F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59FB9C-2AD9-F2F3-931A-2D6DD021D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DB6D30-95A9-1FA4-7F32-8855CB0E9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0FF7C2-A428-DFBC-6B63-0CCFD2ADF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790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93709-57CC-8B8A-ACDA-52B099A2B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F367CB-7D09-0D71-A2D0-B1C39E67C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CF0DA5-16D7-E2BB-160D-8FFC67FAB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1A9472-ECC5-1821-D37B-637948928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1583DA-F103-9448-6B3A-960AC44AB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A3B456-B5E6-C420-B439-06C48784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783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84FBE-B287-6191-ADC2-E926ED9E6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DDAD2B-FEDC-0112-F6FE-4F5981C0A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92AFED-53F3-7023-EE34-B2D14A7CC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46D94AB-7207-AC70-5566-8DCDAF345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53A019F-BA09-50DD-C674-6B31927F6F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032BD5A-4C99-1BA4-E582-D9933099E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5B83664-0283-46BC-1787-8346CE6AD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095616A-5885-DBF7-C578-2612E69B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5292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3C1A0-10D3-9331-D195-BD172D60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F8B5B6F-88A8-C62C-94F7-272B21858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BC26FF-9925-A964-A2D9-32D872E10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2D0B9E-BE85-CED8-B490-D4F344AF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8688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A44BAF-0823-9037-E2C4-B228FA177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00E32D-6353-3E4C-C96E-E3E9710F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F353A9-8E21-5DF1-DBF7-0431B44DE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9865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EB7A7-1AC3-CBB4-E602-2017F32A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78C84B-C033-4024-105E-AEDB67BCA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EBD0F1-F161-F176-E7F4-E48CDF81C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9E368A-8235-D162-7ECE-33AAB07E7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B78F0D-2714-9269-95B4-AB0D97962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EAEC2D-3386-E5E0-7128-48F2362BC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9718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DE218-4049-2AAD-716D-158C48C8A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26DA213-8EE3-7FA4-B16D-AB718CD957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9D1CA8-0A69-6DB1-1ECF-CC8C0E28F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F1ECD3-B479-BF86-6669-49BDA4549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FD8DB7-35A2-2DBD-E34B-1A7AB1121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633A31-1C69-16CD-DD0C-F0006A7AA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750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773821-7A7D-3CB1-F4C7-08944AC7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93957F-DFC7-B542-1D5B-7B015DD80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A2E185-B633-C445-9C17-CB36987FC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55AEC5-7EC2-C664-1336-FF2D8197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4B0A87-5B5D-1936-1872-424A7BD4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503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9DF7097-0C48-44C1-47E5-DED2BE462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74BC60-DA49-C583-B296-D5FA18D8D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92AD2F-033E-1144-3B4D-921A743D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42C7F7-0563-44B0-19D7-0349C470C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847D25-6AAD-FA56-007A-5909330B7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6835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F89A932-EA2A-56A8-AFA5-4BCAAC5F7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20826F-B08B-1ED6-5641-09D83ADAD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EC4F9E-55F2-23FA-BCAB-C6FC421C3F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B1D13D-9763-49B9-8530-E0057D044581}" type="datetimeFigureOut">
              <a:rPr lang="es-CL" smtClean="0"/>
              <a:t>06-05-2026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546EE9-213B-EDAB-9F44-C39E2C5B1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2413BF-3A10-EEAB-7C40-64036A218C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836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8E6BE-B4B1-BF44-CA7E-956692BD91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Agrupación (</a:t>
            </a:r>
            <a:r>
              <a:rPr lang="es-ES" dirty="0" err="1"/>
              <a:t>Clustering</a:t>
            </a:r>
            <a:r>
              <a:rPr lang="es-ES" dirty="0"/>
              <a:t>) en Minería de Datos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C19847-10BD-9291-69CF-BA500979C1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Profesor Manuel Reveco Cabello</a:t>
            </a:r>
          </a:p>
        </p:txBody>
      </p:sp>
    </p:spTree>
    <p:extLst>
      <p:ext uri="{BB962C8B-B14F-4D97-AF65-F5344CB8AC3E}">
        <p14:creationId xmlns:p14="http://schemas.microsoft.com/office/powerpoint/2010/main" val="1364131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2CB64-E8F2-4A19-14A9-738C59D1E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la agrupación?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1005F6-AD9F-75D8-1E11-BE660B0AF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ES" dirty="0"/>
              <a:t>La </a:t>
            </a:r>
            <a:r>
              <a:rPr lang="es-ES" b="1" dirty="0"/>
              <a:t>agrupación o </a:t>
            </a:r>
            <a:r>
              <a:rPr lang="es-ES" b="1" dirty="0" err="1"/>
              <a:t>clustering</a:t>
            </a:r>
            <a:r>
              <a:rPr lang="es-ES" b="1" dirty="0"/>
              <a:t> </a:t>
            </a:r>
            <a:r>
              <a:rPr lang="es-ES" dirty="0"/>
              <a:t>es una técnica de aprendizaje no supervisado cuyo objetivo es:</a:t>
            </a:r>
          </a:p>
          <a:p>
            <a:pPr marL="0" indent="0" algn="just">
              <a:buNone/>
            </a:pPr>
            <a:r>
              <a:rPr lang="es-ES" dirty="0"/>
              <a:t>“Dividir un conjunto de datos en grupos (</a:t>
            </a:r>
            <a:r>
              <a:rPr lang="es-ES" dirty="0" err="1"/>
              <a:t>clusters</a:t>
            </a:r>
            <a:r>
              <a:rPr lang="es-ES" dirty="0"/>
              <a:t>) de forma que los elementos dentro de un grupo sean más similares entre sí que respecto a otros grupos”.</a:t>
            </a:r>
          </a:p>
          <a:p>
            <a:pPr marL="0" indent="0" algn="just">
              <a:buNone/>
            </a:pPr>
            <a:r>
              <a:rPr lang="es-ES" b="1" dirty="0"/>
              <a:t>Características clave</a:t>
            </a:r>
            <a:r>
              <a:rPr lang="es-ES" dirty="0"/>
              <a:t>:</a:t>
            </a:r>
          </a:p>
          <a:p>
            <a:pPr algn="just"/>
            <a:r>
              <a:rPr lang="es-ES" dirty="0"/>
              <a:t>No hay clases predefinidas</a:t>
            </a:r>
          </a:p>
          <a:p>
            <a:pPr algn="just"/>
            <a:r>
              <a:rPr lang="es-ES" dirty="0"/>
              <a:t>El algoritmo descubre la estructura</a:t>
            </a:r>
          </a:p>
          <a:p>
            <a:pPr algn="just"/>
            <a:r>
              <a:rPr lang="es-ES" dirty="0"/>
              <a:t>Se basa en distancias, densidad o probabilidades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24419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F0833-EA38-6675-EF9D-37C165258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¿Para qué se usa el </a:t>
            </a:r>
            <a:r>
              <a:rPr lang="es-ES" dirty="0" err="1"/>
              <a:t>clustering</a:t>
            </a:r>
            <a:r>
              <a:rPr lang="es-ES" dirty="0"/>
              <a:t>?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7C8D75-F30F-4650-763B-4C05039EF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/>
              <a:t>Aplicaciones típicas:</a:t>
            </a:r>
          </a:p>
          <a:p>
            <a:r>
              <a:rPr lang="es-ES" dirty="0"/>
              <a:t>Segmentación de clientes</a:t>
            </a:r>
          </a:p>
          <a:p>
            <a:r>
              <a:rPr lang="es-ES" dirty="0"/>
              <a:t>Agrupación de estudiantes</a:t>
            </a:r>
          </a:p>
          <a:p>
            <a:r>
              <a:rPr lang="es-ES" dirty="0"/>
              <a:t>Análisis exploratorio de datos</a:t>
            </a:r>
          </a:p>
          <a:p>
            <a:r>
              <a:rPr lang="es-ES" dirty="0"/>
              <a:t>Detección de anomalías</a:t>
            </a:r>
          </a:p>
          <a:p>
            <a:r>
              <a:rPr lang="es-ES" dirty="0"/>
              <a:t>Agrupación de documentos</a:t>
            </a:r>
          </a:p>
          <a:p>
            <a:r>
              <a:rPr lang="es-ES" dirty="0"/>
              <a:t>Imagen y bioinformática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53111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E76E3-A018-BE90-9928-7A6727D9D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Principales algoritmos de agrupación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87A756-24AA-1A2F-71A0-03DD21998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Los algoritmos de </a:t>
            </a:r>
            <a:r>
              <a:rPr lang="es-ES" dirty="0" err="1"/>
              <a:t>clustering</a:t>
            </a:r>
            <a:r>
              <a:rPr lang="es-ES" dirty="0"/>
              <a:t> se clasifican en familias:</a:t>
            </a:r>
            <a:endParaRPr lang="es-CL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4AE027C-101D-56A7-9753-2D8BC0298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527592"/>
              </p:ext>
            </p:extLst>
          </p:nvPr>
        </p:nvGraphicFramePr>
        <p:xfrm>
          <a:off x="2033752" y="2721134"/>
          <a:ext cx="9320048" cy="25603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062248">
                  <a:extLst>
                    <a:ext uri="{9D8B030D-6E8A-4147-A177-3AD203B41FA5}">
                      <a16:colId xmlns:a16="http://schemas.microsoft.com/office/drawing/2014/main" val="2678036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1309258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s-CL" dirty="0"/>
                        <a:t>Clasificación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92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dirty="0">
                          <a:effectLst/>
                        </a:rPr>
                        <a:t>Familia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dirty="0">
                          <a:effectLst/>
                        </a:rPr>
                        <a:t>Algoritmos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569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Particionales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 dirty="0">
                          <a:effectLst/>
                        </a:rPr>
                        <a:t>K-Means</a:t>
                      </a:r>
                      <a:r>
                        <a:rPr lang="es-CL" dirty="0">
                          <a:effectLst/>
                        </a:rPr>
                        <a:t>, K-</a:t>
                      </a:r>
                      <a:r>
                        <a:rPr lang="es-CL" dirty="0" err="1">
                          <a:effectLst/>
                        </a:rPr>
                        <a:t>Medoids</a:t>
                      </a:r>
                      <a:endParaRPr lang="es-CL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587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Jerárquicos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Aglomerativo, Divisivo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023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Basados en densidad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>
                          <a:effectLst/>
                        </a:rPr>
                        <a:t>DBSCAN</a:t>
                      </a:r>
                      <a:r>
                        <a:rPr lang="es-CL">
                          <a:effectLst/>
                        </a:rPr>
                        <a:t>, OPTICS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063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Probabilísticos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Gaussian Mixture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408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>
                          <a:effectLst/>
                        </a:rPr>
                        <a:t>Basados en grafos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dirty="0" err="1">
                          <a:effectLst/>
                        </a:rPr>
                        <a:t>Spectral</a:t>
                      </a:r>
                      <a:r>
                        <a:rPr lang="es-CL" dirty="0">
                          <a:effectLst/>
                        </a:rPr>
                        <a:t> </a:t>
                      </a:r>
                      <a:r>
                        <a:rPr lang="es-CL" dirty="0" err="1">
                          <a:effectLst/>
                        </a:rPr>
                        <a:t>Clustering</a:t>
                      </a:r>
                      <a:endParaRPr lang="es-CL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750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992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EC83A-87EB-C42E-C4A8-8C4C4B5C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K-Means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98E541-2AA7-7637-99D6-C9524A62F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ES" b="1" dirty="0"/>
              <a:t>¿Cómo funciona?</a:t>
            </a:r>
          </a:p>
          <a:p>
            <a:pPr algn="just"/>
            <a:r>
              <a:rPr lang="es-ES" dirty="0"/>
              <a:t>K-Means divide los datos en K </a:t>
            </a:r>
            <a:r>
              <a:rPr lang="es-ES" dirty="0" err="1"/>
              <a:t>clusters</a:t>
            </a:r>
            <a:r>
              <a:rPr lang="es-ES" dirty="0"/>
              <a:t> usando centroides (promedios).</a:t>
            </a:r>
          </a:p>
          <a:p>
            <a:pPr marL="0" indent="0" algn="just">
              <a:buNone/>
            </a:pPr>
            <a:r>
              <a:rPr lang="es-ES" b="1" dirty="0"/>
              <a:t>Pasos del algoritmo: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ES" dirty="0"/>
              <a:t>Elegir K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ES" dirty="0"/>
              <a:t>Inicializar K centroides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ES" dirty="0"/>
              <a:t>Asignar cada punto al centroide más cercano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ES" dirty="0"/>
              <a:t>Recalcular centroides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ES" dirty="0"/>
              <a:t>Repetir hasta que no haya cambios</a:t>
            </a:r>
          </a:p>
          <a:p>
            <a:pPr marL="0" indent="0" algn="just">
              <a:buNone/>
            </a:pPr>
            <a:r>
              <a:rPr lang="es-ES" dirty="0"/>
              <a:t>Utiliza generalmente distancia euclidiana.(es la métrica más utilizada para medir qué tan similares son dos registros: si la distancia es pequeña, los registros son parecidos; si es grande, son diferentes).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31296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C5AAE-98AC-2701-0553-C8116F3D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K-Means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94168D-B934-98AE-876F-754481818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dirty="0"/>
              <a:t>Ejemplo conceptual</a:t>
            </a:r>
          </a:p>
          <a:p>
            <a:pPr marL="0" indent="0">
              <a:buNone/>
            </a:pPr>
            <a:r>
              <a:rPr lang="es-CL" dirty="0"/>
              <a:t>Clientes con:</a:t>
            </a:r>
          </a:p>
          <a:p>
            <a:r>
              <a:rPr lang="es-CL" dirty="0"/>
              <a:t>Edad</a:t>
            </a:r>
          </a:p>
          <a:p>
            <a:r>
              <a:rPr lang="es-CL" dirty="0"/>
              <a:t>Gasto mensual</a:t>
            </a:r>
          </a:p>
          <a:p>
            <a:pPr marL="0" indent="0">
              <a:buNone/>
            </a:pPr>
            <a:r>
              <a:rPr lang="es-CL" dirty="0"/>
              <a:t>Se quiere detectar 2 tipos de clientes.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Para probar el ejemplo siguiente instalar  </a:t>
            </a:r>
            <a:r>
              <a:rPr lang="es-CL" dirty="0" err="1"/>
              <a:t>pip</a:t>
            </a:r>
            <a:r>
              <a:rPr lang="es-CL" dirty="0"/>
              <a:t> </a:t>
            </a:r>
            <a:r>
              <a:rPr lang="es-CL" dirty="0" err="1"/>
              <a:t>install</a:t>
            </a:r>
            <a:r>
              <a:rPr lang="es-CL" dirty="0"/>
              <a:t> </a:t>
            </a:r>
            <a:r>
              <a:rPr lang="es-CL" dirty="0" err="1"/>
              <a:t>scikit-learn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80919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D2CF192-5D36-3974-FBB3-6FEF4E1DB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959" y="551794"/>
            <a:ext cx="9553903" cy="56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31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BBC8122-7E13-B4BD-7F8A-FC5FFA08B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227" y="425669"/>
            <a:ext cx="10137227" cy="614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48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86019A7-602E-526C-1D98-5AFDCF028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228" y="457201"/>
            <a:ext cx="10216055" cy="594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50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33019-E970-1DC9-EDBD-B6F1462F9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Interpretación del resultado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A03496-561E-B09A-BC24-50309F88E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Cluster 0→ Clientes jóvenes con bajo gasto</a:t>
            </a:r>
          </a:p>
          <a:p>
            <a:r>
              <a:rPr lang="es-ES" dirty="0"/>
              <a:t>Cluster 1→ Clientes adultos con alto gasto</a:t>
            </a:r>
          </a:p>
          <a:p>
            <a:pPr marL="0" indent="0">
              <a:buNone/>
            </a:pPr>
            <a:r>
              <a:rPr lang="es-ES" dirty="0"/>
              <a:t>Los centroides representan el “cliente promedio” de cada grupo.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8536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2DDCB-603E-093E-D7C0-C5E86017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Qué demuestra este 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DE9C9E-CCF3-2AF4-91B3-32C14D55A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Uso práctico de aprendizaje no supervisado</a:t>
            </a:r>
          </a:p>
          <a:p>
            <a:r>
              <a:rPr lang="es-ES" dirty="0"/>
              <a:t>Aplicación real de K‑Means</a:t>
            </a:r>
          </a:p>
          <a:p>
            <a:r>
              <a:rPr lang="es-ES" dirty="0"/>
              <a:t>Importancia de la normalización</a:t>
            </a:r>
          </a:p>
          <a:p>
            <a:r>
              <a:rPr lang="es-ES" dirty="0"/>
              <a:t>Uso de pandas para manejo de datos</a:t>
            </a:r>
          </a:p>
          <a:p>
            <a:r>
              <a:rPr lang="es-ES" dirty="0"/>
              <a:t>Uso de </a:t>
            </a:r>
            <a:r>
              <a:rPr lang="es-ES" dirty="0" err="1"/>
              <a:t>matplotlib</a:t>
            </a:r>
            <a:r>
              <a:rPr lang="es-ES" dirty="0"/>
              <a:t> para interpretación visual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44508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DA6A70-DB6A-A743-6D76-39F574BCA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Actividad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1776DD-B017-C581-26A4-72A2BC1EA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Realizar la actividad practica indicada</a:t>
            </a:r>
          </a:p>
        </p:txBody>
      </p:sp>
    </p:spTree>
    <p:extLst>
      <p:ext uri="{BB962C8B-B14F-4D97-AF65-F5344CB8AC3E}">
        <p14:creationId xmlns:p14="http://schemas.microsoft.com/office/powerpoint/2010/main" val="587944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327</Words>
  <Application>Microsoft Office PowerPoint</Application>
  <PresentationFormat>Panorámica</PresentationFormat>
  <Paragraphs>62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Agrupación (Clustering) en Minería de Datos</vt:lpstr>
      <vt:lpstr>¿Qué es la agrupación?</vt:lpstr>
      <vt:lpstr>¿Para qué se usa el clustering?</vt:lpstr>
      <vt:lpstr>Principales algoritmos de agrupación</vt:lpstr>
      <vt:lpstr>K-Means</vt:lpstr>
      <vt:lpstr>K-Means</vt:lpstr>
      <vt:lpstr>Presentación de PowerPoint</vt:lpstr>
      <vt:lpstr>Presentación de PowerPoint</vt:lpstr>
      <vt:lpstr>Presentación de PowerPoint</vt:lpstr>
      <vt:lpstr>Interpretación del resultado</vt:lpstr>
      <vt:lpstr>Qué demuestra este ejemplo</vt:lpstr>
      <vt:lpstr>Actividad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ANTONIO REVECO CABELLO</dc:creator>
  <cp:lastModifiedBy>MANUEL ANTONIO REVECO CABELLO</cp:lastModifiedBy>
  <cp:revision>3</cp:revision>
  <dcterms:created xsi:type="dcterms:W3CDTF">2026-05-07T03:26:25Z</dcterms:created>
  <dcterms:modified xsi:type="dcterms:W3CDTF">2026-05-07T05:04:59Z</dcterms:modified>
</cp:coreProperties>
</file>