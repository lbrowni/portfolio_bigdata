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837171-C918-BAAA-E012-E0B8F70DB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D60864-F891-E147-3D2F-0574E48BD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93BA72-ACAD-D608-ED36-89DF0C23E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09FD-AB81-4C6D-B7DE-A8F97FF4C5B5}" type="datetimeFigureOut">
              <a:rPr lang="es-CL" smtClean="0"/>
              <a:t>23-04-2026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B3A70C-2FC9-64DD-2312-DACFD69A6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452B1D-61F0-4488-A904-2AA40486D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CB5D9-EED4-4CE6-BEB6-04E3660E06C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2689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40259-D1C2-F01B-2744-0CB50D9D9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E4BCDC-6B61-60C0-2081-7CE10C956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3A9418-EA30-96CE-7544-EC75F57B8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09FD-AB81-4C6D-B7DE-A8F97FF4C5B5}" type="datetimeFigureOut">
              <a:rPr lang="es-CL" smtClean="0"/>
              <a:t>23-04-2026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032B8F-FCE1-68A9-F57C-F285863BC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8E9C14-DF02-2784-DA09-90ACDF9DB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CB5D9-EED4-4CE6-BEB6-04E3660E06C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15880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1FEDF7-A24F-6BEA-2BF8-EA6D2A9C9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AAA663-A9AA-12CE-384D-A820081A2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1C8E12-5067-5F6E-1819-ADE19418D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09FD-AB81-4C6D-B7DE-A8F97FF4C5B5}" type="datetimeFigureOut">
              <a:rPr lang="es-CL" smtClean="0"/>
              <a:t>23-04-2026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418FD0-A744-EF12-18A6-4003A7FD9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6790F9-4D2C-9773-C087-F63B5C86D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CB5D9-EED4-4CE6-BEB6-04E3660E06C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66902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430E61-E180-D5B8-75CA-D5FA1D4B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569847-18B6-99E8-8C50-24CD11F7A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B7FAE8D-58E5-2300-75C4-40DCA72CFE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67F60AC-4AF4-CCB4-AEA1-63E225FCE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09FD-AB81-4C6D-B7DE-A8F97FF4C5B5}" type="datetimeFigureOut">
              <a:rPr lang="es-CL" smtClean="0"/>
              <a:t>23-04-2026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866EDC-D60C-632E-988D-38FD44262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982C2DD-0A7A-42E2-91DD-95E205842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CB5D9-EED4-4CE6-BEB6-04E3660E06C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024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20DB48-4298-D96B-FE73-F153CB1EF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F74B20-8AE5-493D-6F7B-CF89D0F12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FF067B4-24B9-7E2A-27D8-4859C15DF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7B4C42F-7653-8809-BA74-79B4A13CCA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996E470-20F8-9403-4C25-7283E015BC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8CD02D0-E4B8-572B-2C7B-1B36AD911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09FD-AB81-4C6D-B7DE-A8F97FF4C5B5}" type="datetimeFigureOut">
              <a:rPr lang="es-CL" smtClean="0"/>
              <a:t>23-04-2026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8DB1563-9FE1-5613-3CF2-C1478056B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B8B3837-5A1B-8D88-7C86-31FE6DE01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CB5D9-EED4-4CE6-BEB6-04E3660E06C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23731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8FE776-244C-CFFA-54C8-2EE63E2FD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8451764-FFC2-7044-4448-4FB9D9893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09FD-AB81-4C6D-B7DE-A8F97FF4C5B5}" type="datetimeFigureOut">
              <a:rPr lang="es-CL" smtClean="0"/>
              <a:t>23-04-2026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BD80DD7-7659-9B22-156B-2224C3B36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D040C95-7F8A-F7BA-EBBE-76C359E64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CB5D9-EED4-4CE6-BEB6-04E3660E06C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24140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271ECA4-F5D6-B0F1-10F6-9884B01E6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09FD-AB81-4C6D-B7DE-A8F97FF4C5B5}" type="datetimeFigureOut">
              <a:rPr lang="es-CL" smtClean="0"/>
              <a:t>23-04-2026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C5347B-89C4-7C74-F1AB-B804098EA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E31B91-0EF0-AD90-28CA-28CFB734E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CB5D9-EED4-4CE6-BEB6-04E3660E06C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96021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9982C-7A40-FD09-E6F2-9F3958405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0B5943-28E8-C871-30C6-2BFDDDC1C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775411B-BF17-5531-7965-02A873C4C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409B6D1-D749-D712-5427-108D48AB4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09FD-AB81-4C6D-B7DE-A8F97FF4C5B5}" type="datetimeFigureOut">
              <a:rPr lang="es-CL" smtClean="0"/>
              <a:t>23-04-2026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C0E61F-2B64-3507-C494-D02B8332A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88172D-173E-B203-94BD-BF25C7152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CB5D9-EED4-4CE6-BEB6-04E3660E06C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64799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8E6686-C42D-19F6-BAF9-A3D146C48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C461F48-9F42-22E5-04DF-517FDC1C55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624180-F6AB-3089-AD6D-ACA1DAD53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534DC8-B113-011F-2ED3-CEB0CBD7C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09FD-AB81-4C6D-B7DE-A8F97FF4C5B5}" type="datetimeFigureOut">
              <a:rPr lang="es-CL" smtClean="0"/>
              <a:t>23-04-2026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78F774-43C4-2A2E-68A9-B3CF36BE8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A2273D-72FC-4C2C-A110-4C18742C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CB5D9-EED4-4CE6-BEB6-04E3660E06C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04608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BC1A1F-08DC-D985-8BD7-D1069EBEE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DAA8F9-10C6-E17A-C658-E2737B667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A25DAC-D018-97AE-97B1-0BE1AF7DC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09FD-AB81-4C6D-B7DE-A8F97FF4C5B5}" type="datetimeFigureOut">
              <a:rPr lang="es-CL" smtClean="0"/>
              <a:t>23-04-2026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F5E1B6-2E49-9D4B-EB86-CC8BD4480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C13759-1EC1-208D-A5A6-4DD2AB929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CB5D9-EED4-4CE6-BEB6-04E3660E06C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77468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96B998C-409B-A127-8A02-152BC9ABA2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EC340A8-2B57-93DB-0258-D8DA28DF7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7DA1AB-97A7-B48B-7659-33191BF6A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09FD-AB81-4C6D-B7DE-A8F97FF4C5B5}" type="datetimeFigureOut">
              <a:rPr lang="es-CL" smtClean="0"/>
              <a:t>23-04-2026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BE22A4-4A42-6C64-838E-7EA835538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80A8A9-3E28-8F66-C88B-03973B037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CB5D9-EED4-4CE6-BEB6-04E3660E06C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13963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CE0788F-283A-70A3-4054-D3BC139E4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26CE70-DF18-90CD-6DA8-E4F18EDA3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9F75FF-0B50-6CC4-04FB-8F08307248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9409FD-AB81-4C6D-B7DE-A8F97FF4C5B5}" type="datetimeFigureOut">
              <a:rPr lang="es-CL" smtClean="0"/>
              <a:t>23-04-2026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1EBCDE-8D90-C664-ECAB-0B57EA21C2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B403F2-6E6F-01E6-E9A8-185206F91C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0CB5D9-EED4-4CE6-BEB6-04E3660E06C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94278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1CCF15-4B31-C0AA-969B-DA38AFD41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Biblioteca </a:t>
            </a:r>
            <a:r>
              <a:rPr lang="es-CL" dirty="0" err="1"/>
              <a:t>Matplotlib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8D108C-CA9A-FD03-0628-333EDD5D2E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/>
              <a:t>Prof. Manuel Reveco Cabello</a:t>
            </a:r>
          </a:p>
        </p:txBody>
      </p:sp>
    </p:spTree>
    <p:extLst>
      <p:ext uri="{BB962C8B-B14F-4D97-AF65-F5344CB8AC3E}">
        <p14:creationId xmlns:p14="http://schemas.microsoft.com/office/powerpoint/2010/main" val="1357727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994C50-865E-A1C3-4947-1BE21CE13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¿para que sirve?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24FEFA-2033-64BF-2F2D-9810F042F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dirty="0"/>
              <a:t>Su función principal es generar visualizaciones de alta calidad para informes, presentaciones o artículos científicos. </a:t>
            </a:r>
          </a:p>
          <a:p>
            <a:pPr algn="just"/>
            <a:r>
              <a:rPr lang="es-ES" dirty="0"/>
              <a:t>Se pueden crear casi cualquier tipo de </a:t>
            </a:r>
            <a:r>
              <a:rPr lang="es-ES" dirty="0" err="1"/>
              <a:t>gráfic</a:t>
            </a:r>
            <a:r>
              <a:rPr lang="es-ES" dirty="0"/>
              <a:t>, como:</a:t>
            </a:r>
          </a:p>
          <a:p>
            <a:pPr algn="just"/>
            <a:r>
              <a:rPr lang="es-ES" dirty="0"/>
              <a:t>Gráficos de líneas: Ideales para ver tendencias temporales.</a:t>
            </a:r>
          </a:p>
          <a:p>
            <a:pPr algn="just"/>
            <a:r>
              <a:rPr lang="es-ES" dirty="0"/>
              <a:t>Histogramas: Para entender la distribución de los datos.</a:t>
            </a:r>
          </a:p>
          <a:p>
            <a:pPr algn="just"/>
            <a:r>
              <a:rPr lang="es-ES" dirty="0"/>
              <a:t>Diagramas de dispersión (</a:t>
            </a:r>
            <a:r>
              <a:rPr lang="es-ES" dirty="0" err="1"/>
              <a:t>Scatter</a:t>
            </a:r>
            <a:r>
              <a:rPr lang="es-ES" dirty="0"/>
              <a:t> </a:t>
            </a:r>
            <a:r>
              <a:rPr lang="es-ES" dirty="0" err="1"/>
              <a:t>plots</a:t>
            </a:r>
            <a:r>
              <a:rPr lang="es-ES" dirty="0"/>
              <a:t>): Para ver la relación entre dos variables.</a:t>
            </a:r>
          </a:p>
          <a:p>
            <a:pPr algn="just"/>
            <a:r>
              <a:rPr lang="es-ES" dirty="0"/>
              <a:t>Gráficos de barras y circulares: Para comparaciones rápidas.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40255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E987F5-2E0A-8D3E-DB23-4F3FFC6A0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Ejemplo de una línea recta simple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2845796-D8D4-CB10-A7D8-B7C42CDF4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49" y="1690688"/>
            <a:ext cx="6654088" cy="307422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F8007E5-721E-4086-8F10-477C45D41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337" y="3016251"/>
            <a:ext cx="3870126" cy="307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463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E92093-1080-86E6-BE59-AC0CE7B3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Ejemplo de grafico de dispersión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1087B2E-FE53-EDC4-1BC7-A2CBA8763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56733"/>
            <a:ext cx="7168238" cy="230260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A97E8E5-9A68-6502-9BE6-F12F11D15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386" y="2578684"/>
            <a:ext cx="3964414" cy="300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585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C23AD-E601-7814-961F-ADF6897DB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Poner nombre a los ejes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022ABFE-835E-896A-AF40-9C7B7213E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94612"/>
            <a:ext cx="4691647" cy="283681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7D98B7E-A00E-F5FA-855D-F653CF08E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868" y="2820175"/>
            <a:ext cx="4289645" cy="327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77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9444C5-9060-1F8C-C0ED-AC1B3A564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Titulo del grafico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304DC7C-956A-D1A7-7EA0-A05E6BE46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587" y="1690688"/>
            <a:ext cx="5781080" cy="403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274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605546-1474-BCC4-218E-4F73DA163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Gráfico de barras</a:t>
            </a:r>
            <a:endParaRPr lang="es-CL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E952A04-1618-0EED-0E5D-6C6D043E6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8026079" cy="384533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2407740-4C92-E745-E03C-02D90503A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444" y="3772490"/>
            <a:ext cx="3629670" cy="278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76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D7065-CE52-B041-7579-55CC3E41D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Grafico de barras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C609AC1-5AC1-9233-840C-3B36DE68C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53394"/>
            <a:ext cx="7135221" cy="523948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0778C5F-EE29-8044-B8DD-828F1F752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421" y="1524247"/>
            <a:ext cx="4053497" cy="469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029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277C24-C3FE-4290-F6DE-5AF102E72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Grafico circular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57EB4BD-2E19-CF06-68D5-BF117624E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21053"/>
            <a:ext cx="9011908" cy="457263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EA19EBA-1B0F-C51F-CF1F-36BBC1B83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014" y="3670461"/>
            <a:ext cx="3388786" cy="268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143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7A031-484A-BB8D-1EA7-296F16E79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Gráfico Circular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12CD90-2581-7DBF-D14C-09C03F99D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ES" dirty="0"/>
              <a:t>Elementos clave usados:</a:t>
            </a:r>
          </a:p>
          <a:p>
            <a:pPr algn="just"/>
            <a:r>
              <a:rPr lang="es-ES" dirty="0" err="1"/>
              <a:t>autopct</a:t>
            </a:r>
            <a:r>
              <a:rPr lang="es-ES" dirty="0"/>
              <a:t>='%1.1f%%': Esta es una de las funciones más útiles; calcula automáticamente el porcentaje de cada sección y lo escribe dentro del gráfico.</a:t>
            </a:r>
          </a:p>
          <a:p>
            <a:pPr algn="just"/>
            <a:r>
              <a:rPr lang="es-ES" dirty="0" err="1"/>
              <a:t>explode</a:t>
            </a:r>
            <a:r>
              <a:rPr lang="es-ES" dirty="0"/>
              <a:t>: Permite "sacar" una rebanada del círculo para darle énfasis. En el ejemplo, pusimos 0.1 en la primera posición para resaltar "Ventas".</a:t>
            </a:r>
          </a:p>
          <a:p>
            <a:pPr algn="just"/>
            <a:r>
              <a:rPr lang="es-ES" dirty="0" err="1"/>
              <a:t>startangle</a:t>
            </a:r>
            <a:r>
              <a:rPr lang="es-ES" dirty="0"/>
              <a:t>: Por defecto, Matplotlib empieza a dibujar desde el eje X (derecha). Cambiar el ángulo ayuda a que las etiquetas se acomoden mejor.</a:t>
            </a:r>
          </a:p>
          <a:p>
            <a:pPr algn="just"/>
            <a:r>
              <a:rPr lang="es-ES" dirty="0" err="1"/>
              <a:t>plt.axis</a:t>
            </a:r>
            <a:r>
              <a:rPr lang="es-ES" dirty="0"/>
              <a:t>('</a:t>
            </a:r>
            <a:r>
              <a:rPr lang="es-ES" dirty="0" err="1"/>
              <a:t>equal</a:t>
            </a:r>
            <a:r>
              <a:rPr lang="es-ES" dirty="0"/>
              <a:t>'): Es un truco visual importante para que, independientemente del tamaño de la ventana, el gráfico siempre se vea como un círculo perfecto.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76619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2744FB-9AFD-C9CC-67AD-583A16455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Histograma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84443D2-0F0C-8759-545E-668DE7E00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697010" cy="424874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97BA5D5-7BD8-D6FF-C3B8-79D331B24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64" y="2542574"/>
            <a:ext cx="4557936" cy="395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264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A4C655-A1C5-FA37-424D-F181E5AB2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Diagrama de Dispersión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5024FA1-6433-8389-6A73-2BF6E8CDC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915851" cy="425826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B66EA98-14DB-19D5-D75D-FE655640B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16251"/>
            <a:ext cx="4540321" cy="339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312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8734A3-797F-5E43-6F63-5AE81D905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¿Cómo guardar los gráficos?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7D0419-3F97-8B25-B6A2-BFA235FCE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dirty="0"/>
              <a:t>Para guardar se debe sustituir </a:t>
            </a:r>
            <a:r>
              <a:rPr lang="es-ES" dirty="0" err="1"/>
              <a:t>plt.show</a:t>
            </a:r>
            <a:r>
              <a:rPr lang="es-ES" dirty="0"/>
              <a:t>()por: </a:t>
            </a:r>
            <a:r>
              <a:rPr lang="es-ES" dirty="0" err="1"/>
              <a:t>plt.savefig</a:t>
            </a:r>
            <a:r>
              <a:rPr lang="es-ES" dirty="0"/>
              <a:t>('mi_grafico.png', dpi=300, </a:t>
            </a:r>
            <a:r>
              <a:rPr lang="es-ES" dirty="0" err="1"/>
              <a:t>bbox_inches</a:t>
            </a:r>
            <a:r>
              <a:rPr lang="es-ES" dirty="0"/>
              <a:t>='</a:t>
            </a:r>
            <a:r>
              <a:rPr lang="es-ES" dirty="0" err="1"/>
              <a:t>tight</a:t>
            </a:r>
            <a:r>
              <a:rPr lang="es-ES" dirty="0"/>
              <a:t>’)</a:t>
            </a:r>
          </a:p>
          <a:p>
            <a:pPr algn="just"/>
            <a:r>
              <a:rPr lang="es-ES" dirty="0"/>
              <a:t>dpi=300: Le da alta resolución (calidad de impresión).</a:t>
            </a:r>
          </a:p>
          <a:p>
            <a:pPr algn="just"/>
            <a:r>
              <a:rPr lang="es-ES" dirty="0" err="1"/>
              <a:t>bbox_inches</a:t>
            </a:r>
            <a:r>
              <a:rPr lang="es-ES" dirty="0"/>
              <a:t>='</a:t>
            </a:r>
            <a:r>
              <a:rPr lang="es-ES" dirty="0" err="1"/>
              <a:t>tight</a:t>
            </a:r>
            <a:r>
              <a:rPr lang="es-ES" dirty="0"/>
              <a:t>’: sirve para que no se corten las etiquetas de los bordes.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580420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915F67-FE08-625F-9653-2D450311A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Gráficos combinados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C779C8-8D4B-02DF-0D1D-C944B1458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dirty="0"/>
              <a:t>Este es el tipo de visualización que realmente impresiona en un reporte, se  mostraran puntos de datos reales (</a:t>
            </a:r>
            <a:r>
              <a:rPr lang="es-ES" dirty="0" err="1"/>
              <a:t>Scatter</a:t>
            </a:r>
            <a:r>
              <a:rPr lang="es-ES" dirty="0"/>
              <a:t> </a:t>
            </a:r>
            <a:r>
              <a:rPr lang="es-ES" dirty="0" err="1"/>
              <a:t>Plot</a:t>
            </a:r>
            <a:r>
              <a:rPr lang="es-ES" dirty="0"/>
              <a:t>) y, sobre ellos, se dibujara una línea de tendencia (Line </a:t>
            </a:r>
            <a:r>
              <a:rPr lang="es-ES" dirty="0" err="1"/>
              <a:t>Plot</a:t>
            </a:r>
            <a:r>
              <a:rPr lang="es-ES" dirty="0"/>
              <a:t>) que represente el comportamiento ideal o promedio.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11783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76A7BB-2E9D-058C-C6F8-BC2420703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Grafico combinado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2112DA8-1ED2-BAC5-6410-A2012528D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01078"/>
            <a:ext cx="8964276" cy="49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042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C099ED-E51A-305C-D8AE-848859F70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Grafico combinado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8BD8C76-7483-A1C5-8D8D-359BDFD09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897" y="1690688"/>
            <a:ext cx="7445435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224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AC78A-2829-A38B-EB0F-0D8A42BA8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Subplots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85DB42-0E69-9FF3-7ED5-E3E4B993E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dirty="0"/>
              <a:t>En lugar de generar cinco archivos diferentes, podemos poner todo en una sola imagen.</a:t>
            </a:r>
          </a:p>
          <a:p>
            <a:pPr algn="just"/>
            <a:r>
              <a:rPr lang="es-ES" dirty="0"/>
              <a:t>Para esto se debe usar  </a:t>
            </a:r>
            <a:r>
              <a:rPr lang="es-ES" dirty="0" err="1"/>
              <a:t>plt.subplots</a:t>
            </a:r>
            <a:r>
              <a:rPr lang="es-ES" dirty="0"/>
              <a:t>(filas, columnas), que devuelve una "figura" (el lienzo) y un "eje" (o array de ejes) donde debemos dibujar cada cosa.</a:t>
            </a:r>
          </a:p>
          <a:p>
            <a:pPr algn="just"/>
            <a:r>
              <a:rPr lang="es-ES" dirty="0"/>
              <a:t>Ejemplo: El </a:t>
            </a:r>
            <a:r>
              <a:rPr lang="es-ES" dirty="0" err="1"/>
              <a:t>Dashboard</a:t>
            </a:r>
            <a:r>
              <a:rPr lang="es-ES" dirty="0"/>
              <a:t> de </a:t>
            </a:r>
            <a:r>
              <a:rPr lang="es-ES" dirty="0" err="1"/>
              <a:t>Matplotlib</a:t>
            </a:r>
            <a:endParaRPr lang="es-ES" dirty="0"/>
          </a:p>
          <a:p>
            <a:pPr algn="just"/>
            <a:r>
              <a:rPr lang="es-ES" dirty="0"/>
              <a:t>Vamos a crear una cuadrícula de 2  x 2 (4 gráficos en total):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28797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1243C1F-DBD9-EC85-BE4B-85C76E022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945" y="885470"/>
            <a:ext cx="9916510" cy="526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123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300942A-EDC9-ADC9-D642-C405B86BA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48" y="277169"/>
            <a:ext cx="11382703" cy="630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190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04823D-ED26-67DA-21E6-C3CEDF83A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Subplots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0BD046-BF4F-F722-8B00-DC0F4422C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ES" dirty="0"/>
              <a:t>Cosas que se deben considerar:</a:t>
            </a:r>
          </a:p>
          <a:p>
            <a:pPr algn="just"/>
            <a:r>
              <a:rPr lang="es-ES" dirty="0" err="1"/>
              <a:t>axs</a:t>
            </a:r>
            <a:r>
              <a:rPr lang="es-ES" dirty="0"/>
              <a:t>[fila, columna]: en lugar de usar </a:t>
            </a:r>
            <a:r>
              <a:rPr lang="es-ES" dirty="0" err="1"/>
              <a:t>plt.plot</a:t>
            </a:r>
            <a:r>
              <a:rPr lang="es-ES" dirty="0"/>
              <a:t>(), se usa el objeto del eje específico. Es como decir: "Dibuja esto en la primera fila, segunda columna".</a:t>
            </a:r>
          </a:p>
          <a:p>
            <a:pPr algn="just"/>
            <a:r>
              <a:rPr lang="es-ES" dirty="0" err="1"/>
              <a:t>set_title</a:t>
            </a:r>
            <a:r>
              <a:rPr lang="es-ES" dirty="0"/>
              <a:t> vs </a:t>
            </a:r>
            <a:r>
              <a:rPr lang="es-ES" dirty="0" err="1"/>
              <a:t>title</a:t>
            </a:r>
            <a:r>
              <a:rPr lang="es-ES" dirty="0"/>
              <a:t>: Cuando se usan </a:t>
            </a:r>
            <a:r>
              <a:rPr lang="es-ES" dirty="0" err="1"/>
              <a:t>subplots</a:t>
            </a:r>
            <a:r>
              <a:rPr lang="es-ES" dirty="0"/>
              <a:t>, los comandos cambian ligeramente. Por ejemplo, se usa .</a:t>
            </a:r>
            <a:r>
              <a:rPr lang="es-ES" dirty="0" err="1"/>
              <a:t>set_title</a:t>
            </a:r>
            <a:r>
              <a:rPr lang="es-ES" dirty="0"/>
              <a:t>() y .</a:t>
            </a:r>
            <a:r>
              <a:rPr lang="es-ES" dirty="0" err="1"/>
              <a:t>set_xlabel</a:t>
            </a:r>
            <a:r>
              <a:rPr lang="es-ES" dirty="0"/>
              <a:t>() en lugar de </a:t>
            </a:r>
            <a:r>
              <a:rPr lang="es-ES" dirty="0" err="1"/>
              <a:t>plt.title</a:t>
            </a:r>
            <a:r>
              <a:rPr lang="es-ES" dirty="0"/>
              <a:t>().</a:t>
            </a:r>
          </a:p>
          <a:p>
            <a:pPr algn="just"/>
            <a:r>
              <a:rPr lang="es-ES" dirty="0" err="1"/>
              <a:t>plt.tight_layout</a:t>
            </a:r>
            <a:r>
              <a:rPr lang="es-ES" dirty="0"/>
              <a:t>(): Es obligatorio aquí. Sin esto, el título de los gráficos de abajo se encimaría con el eje de los de arriba.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3569806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548</Words>
  <Application>Microsoft Office PowerPoint</Application>
  <PresentationFormat>Panorámica</PresentationFormat>
  <Paragraphs>42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Tema de Office</vt:lpstr>
      <vt:lpstr>Biblioteca Matplotlib</vt:lpstr>
      <vt:lpstr>¿para que sirve?</vt:lpstr>
      <vt:lpstr>Ejemplo de una línea recta simple</vt:lpstr>
      <vt:lpstr>Ejemplo de grafico de dispersión</vt:lpstr>
      <vt:lpstr>Poner nombre a los ejes</vt:lpstr>
      <vt:lpstr>Titulo del grafico</vt:lpstr>
      <vt:lpstr>Gráfico de barras</vt:lpstr>
      <vt:lpstr>Grafico de barras</vt:lpstr>
      <vt:lpstr>Grafico circular</vt:lpstr>
      <vt:lpstr>Gráfico Circular</vt:lpstr>
      <vt:lpstr>Histograma</vt:lpstr>
      <vt:lpstr>Diagrama de Dispersión</vt:lpstr>
      <vt:lpstr>¿Cómo guardar los gráficos?</vt:lpstr>
      <vt:lpstr>Gráficos combinados</vt:lpstr>
      <vt:lpstr>Grafico combinado</vt:lpstr>
      <vt:lpstr>Grafico combinado</vt:lpstr>
      <vt:lpstr>Subplots</vt:lpstr>
      <vt:lpstr>Presentación de PowerPoint</vt:lpstr>
      <vt:lpstr>Presentación de PowerPoint</vt:lpstr>
      <vt:lpstr>Subplots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ANTONIO REVECO CABELLO</dc:creator>
  <cp:lastModifiedBy>MANUEL ANTONIO REVECO CABELLO</cp:lastModifiedBy>
  <cp:revision>20</cp:revision>
  <dcterms:created xsi:type="dcterms:W3CDTF">2026-04-23T02:51:29Z</dcterms:created>
  <dcterms:modified xsi:type="dcterms:W3CDTF">2026-04-23T15:58:02Z</dcterms:modified>
</cp:coreProperties>
</file>